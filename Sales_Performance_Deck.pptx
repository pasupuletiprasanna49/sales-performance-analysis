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3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4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5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6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761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East</c:v>
                  </c:pt>
                  <c:pt idx="1">
                    <c:v>West</c:v>
                  </c:pt>
                  <c:pt idx="2">
                    <c:v>South</c:v>
                  </c:pt>
                  <c:pt idx="3">
                    <c:v>North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798474</c:v>
                </c:pt>
                <c:pt idx="1">
                  <c:v>783583</c:v>
                </c:pt>
                <c:pt idx="2">
                  <c:v>634534</c:v>
                </c:pt>
                <c:pt idx="3">
                  <c:v>553282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Profit</c:v>
                </c:pt>
              </c:strCache>
            </c:strRef>
          </c:tx>
          <c:spPr>
            <a:solidFill>
              <a:srgbClr val="CADCF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761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East</c:v>
                  </c:pt>
                  <c:pt idx="1">
                    <c:v>West</c:v>
                  </c:pt>
                  <c:pt idx="2">
                    <c:v>South</c:v>
                  </c:pt>
                  <c:pt idx="3">
                    <c:v>North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131761</c:v>
                </c:pt>
                <c:pt idx="1">
                  <c:v>134918</c:v>
                </c:pt>
                <c:pt idx="2">
                  <c:v>110287</c:v>
                </c:pt>
                <c:pt idx="3">
                  <c:v>97077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761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9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9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00">
              <a:solidFill>
                <a:srgbClr val="1E2761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761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Technology</c:v>
                  </c:pt>
                  <c:pt idx="1">
                    <c:v>Furniture</c:v>
                  </c:pt>
                  <c:pt idx="2">
                    <c:v>Office Supplies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1759942</c:v>
                </c:pt>
                <c:pt idx="1">
                  <c:v>778363</c:v>
                </c:pt>
                <c:pt idx="2">
                  <c:v>231567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Profit</c:v>
                </c:pt>
              </c:strCache>
            </c:strRef>
          </c:tx>
          <c:spPr>
            <a:solidFill>
              <a:srgbClr val="E8834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761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Technology</c:v>
                  </c:pt>
                  <c:pt idx="1">
                    <c:v>Furniture</c:v>
                  </c:pt>
                  <c:pt idx="2">
                    <c:v>Office Supplies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347850</c:v>
                </c:pt>
                <c:pt idx="1">
                  <c:v>81633</c:v>
                </c:pt>
                <c:pt idx="2">
                  <c:v>44562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761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9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9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00">
              <a:solidFill>
                <a:srgbClr val="1E2761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Profit Margin %</c:v>
                </c:pt>
              </c:strCache>
            </c:strRef>
          </c:tx>
          <c:spPr>
            <a:solidFill>
              <a:srgbClr val="E8834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0%</c:v>
                  </c:pt>
                  <c:pt idx="1">
                    <c:v>10%</c:v>
                  </c:pt>
                  <c:pt idx="2">
                    <c:v>20%</c:v>
                  </c:pt>
                  <c:pt idx="3">
                    <c:v>30%</c:v>
                  </c:pt>
                  <c:pt idx="4">
                    <c:v>40%</c:v>
                  </c:pt>
                  <c:pt idx="5">
                    <c:v>50%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30.1</c:v>
                </c:pt>
                <c:pt idx="1">
                  <c:v>21.4</c:v>
                </c:pt>
                <c:pt idx="2">
                  <c:v>12.1</c:v>
                </c:pt>
                <c:pt idx="3">
                  <c:v>2.9</c:v>
                </c:pt>
                <c:pt idx="4">
                  <c:v>-5.9</c:v>
                </c:pt>
                <c:pt idx="5">
                  <c:v>-15.1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ADCF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3A459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ADCF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E2761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Consumer</c:v>
                  </c:pt>
                  <c:pt idx="1">
                    <c:v>Corporate</c:v>
                  </c:pt>
                  <c:pt idx="2">
                    <c:v>Home Office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1510609</c:v>
                </c:pt>
                <c:pt idx="1">
                  <c:v>795061</c:v>
                </c:pt>
                <c:pt idx="2">
                  <c:v>408863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Profit</c:v>
                </c:pt>
              </c:strCache>
            </c:strRef>
          </c:tx>
          <c:spPr>
            <a:solidFill>
              <a:srgbClr val="2E9E5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Consumer</c:v>
                  </c:pt>
                  <c:pt idx="1">
                    <c:v>Corporate</c:v>
                  </c:pt>
                  <c:pt idx="2">
                    <c:v>Home Office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261615</c:v>
                </c:pt>
                <c:pt idx="1">
                  <c:v>138970</c:v>
                </c:pt>
                <c:pt idx="2">
                  <c:v>66223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9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9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00">
              <a:solidFill>
                <a:srgbClr val="1E2761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Monthly Sales</c:v>
                </c:pt>
              </c:strCache>
            </c:strRef>
          </c:tx>
          <c:spPr>
            <a:solidFill>
              <a:srgbClr val="1E2761"/>
            </a:solidFill>
            <a:ln w="31750" cap="flat">
              <a:solidFill>
                <a:srgbClr val="1E276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E2761"/>
              </a:solidFill>
              <a:ln w="9525" cap="flat">
                <a:solidFill>
                  <a:srgbClr val="1E276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Sheet1!$A$2:$A$25</c:f>
              <c:multiLvlStrCache>
                <c:ptCount val="24"/>
                <c:lvl>
                  <c:pt idx="0">
                    <c:v>Jan-24</c:v>
                  </c:pt>
                  <c:pt idx="1">
                    <c:v>Feb-24</c:v>
                  </c:pt>
                  <c:pt idx="2">
                    <c:v>Mar-24</c:v>
                  </c:pt>
                  <c:pt idx="3">
                    <c:v>Apr-24</c:v>
                  </c:pt>
                  <c:pt idx="4">
                    <c:v>May-24</c:v>
                  </c:pt>
                  <c:pt idx="5">
                    <c:v>Jun-24</c:v>
                  </c:pt>
                  <c:pt idx="6">
                    <c:v>Jul-24</c:v>
                  </c:pt>
                  <c:pt idx="7">
                    <c:v>Aug-24</c:v>
                  </c:pt>
                  <c:pt idx="8">
                    <c:v>Sep-24</c:v>
                  </c:pt>
                  <c:pt idx="9">
                    <c:v>Oct-24</c:v>
                  </c:pt>
                  <c:pt idx="10">
                    <c:v>Nov-24</c:v>
                  </c:pt>
                  <c:pt idx="11">
                    <c:v>Dec-24</c:v>
                  </c:pt>
                  <c:pt idx="12">
                    <c:v>Jan-25</c:v>
                  </c:pt>
                  <c:pt idx="13">
                    <c:v>Feb-25</c:v>
                  </c:pt>
                  <c:pt idx="14">
                    <c:v>Mar-25</c:v>
                  </c:pt>
                  <c:pt idx="15">
                    <c:v>Apr-25</c:v>
                  </c:pt>
                  <c:pt idx="16">
                    <c:v>May-25</c:v>
                  </c:pt>
                  <c:pt idx="17">
                    <c:v>Jun-25</c:v>
                  </c:pt>
                  <c:pt idx="18">
                    <c:v>Jul-25</c:v>
                  </c:pt>
                  <c:pt idx="19">
                    <c:v>Aug-25</c:v>
                  </c:pt>
                  <c:pt idx="20">
                    <c:v>Sep-25</c:v>
                  </c:pt>
                  <c:pt idx="21">
                    <c:v>Oct-25</c:v>
                  </c:pt>
                  <c:pt idx="22">
                    <c:v>Nov-25</c:v>
                  </c:pt>
                  <c:pt idx="23">
                    <c:v>Dec-25</c:v>
                  </c:pt>
                </c:lvl>
              </c:multiLvlStrCache>
            </c:multiLvlStrRef>
          </c:cat>
          <c:val>
            <c:numRef>
              <c:f>Sheet1!$B$2:$B$25</c:f>
              <c:numCache>
                <c:formatCode>General</c:formatCode>
                <c:ptCount val="24"/>
                <c:pt idx="0">
                  <c:v>117152</c:v>
                </c:pt>
                <c:pt idx="1">
                  <c:v>100778</c:v>
                </c:pt>
                <c:pt idx="2">
                  <c:v>107975</c:v>
                </c:pt>
                <c:pt idx="3">
                  <c:v>99002</c:v>
                </c:pt>
                <c:pt idx="4">
                  <c:v>117763</c:v>
                </c:pt>
                <c:pt idx="5">
                  <c:v>106191</c:v>
                </c:pt>
                <c:pt idx="6">
                  <c:v>102821</c:v>
                </c:pt>
                <c:pt idx="7">
                  <c:v>141810</c:v>
                </c:pt>
                <c:pt idx="8">
                  <c:v>108734</c:v>
                </c:pt>
                <c:pt idx="9">
                  <c:v>136340</c:v>
                </c:pt>
                <c:pt idx="10">
                  <c:v>106137</c:v>
                </c:pt>
                <c:pt idx="11">
                  <c:v>131450</c:v>
                </c:pt>
                <c:pt idx="12">
                  <c:v>100041</c:v>
                </c:pt>
                <c:pt idx="13">
                  <c:v>92088</c:v>
                </c:pt>
                <c:pt idx="14">
                  <c:v>121580</c:v>
                </c:pt>
                <c:pt idx="15">
                  <c:v>100772</c:v>
                </c:pt>
                <c:pt idx="16">
                  <c:v>112073</c:v>
                </c:pt>
                <c:pt idx="17">
                  <c:v>102915</c:v>
                </c:pt>
                <c:pt idx="18">
                  <c:v>142146</c:v>
                </c:pt>
                <c:pt idx="19">
                  <c:v>121972</c:v>
                </c:pt>
                <c:pt idx="20">
                  <c:v>135889</c:v>
                </c:pt>
                <c:pt idx="21">
                  <c:v>151282</c:v>
                </c:pt>
                <c:pt idx="22">
                  <c:v>112576</c:v>
                </c:pt>
                <c:pt idx="23">
                  <c:v>99206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B6B9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9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Conversion Rate %</c:v>
                </c:pt>
              </c:strCache>
            </c:strRef>
          </c:tx>
          <c:spPr>
            <a:solidFill>
              <a:srgbClr val="5B6B9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76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5B6B9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8834A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Control</c:v>
                  </c:pt>
                  <c:pt idx="1">
                    <c:v>Treatment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21.8</c:v>
                </c:pt>
                <c:pt idx="1">
                  <c:v>26.14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76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9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9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&amp; framing: this is a two-year review of the sales business, covering where revenue comes from, a profitability risk we found, who our customers are, and a validated marketing experiment.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headline numbers: total revenue, the discount risk we quantified, strong customer retention with low concentration risk, and the marketing experiment result. This slide is the whole story in miniature.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Before any analysis, we ran a full data cleaning pass: fixed formatting issues, resolved duplicates, and validated every field. This slide builds trust in the numbers that follow.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East and West lead by region, but South and North represent growth headroom rather than a problem. Technology dominates both sales and profit -- nearly 3x Furniture -- making it the category to double down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single strongest lever hurting profitability. The correlation of -0.52 is a moderate-to-strong relationship, not noise. Recommend a hard cap on discretionary discounting at 30%.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Consumer drives the most volume, but average order value is nearly identical across segments -- the revenue gap is about customer count, not deal size, which points to a B2B acquisition opportunity. Low customer concentration and high repeat rate are both risk-mitigating strengths.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Revenue holds steady across the two-year window with normal month-to-month variation and no structural decline -- a healthy base to build growth initiatives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Chi-squared test on conversion: p=0.0015, well below 0.05, and the confidence interval for the lift doesn't cross zero -- this is a real effect. A follow-up t-test shows order value did NOT differ significantly, so the campaign is a conversion lever, not an upsell lever.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concrete, evidence-backed actions: cap discounts, roll out the campaign, invest in lagging regions, and pursue B2B acquisition. Each ties directly back to a finding shown earlier.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by inviting questions. Be ready to speak to the discount cap recommendation and the campaign rollout timeline, as those are the two most actionable items.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3" Type="http://schemas.openxmlformats.org/officeDocument/2006/relationships/chart" Target="/ppt/charts/chart2.xml"/><Relationship Id="rId1" Type="http://schemas.openxmlformats.org/officeDocument/2006/relationships/image" Target="../media/image-4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4.xml"/><Relationship Id="rId1" Type="http://schemas.openxmlformats.org/officeDocument/2006/relationships/image" Target="../media/image-6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5.xml"/><Relationship Id="rId1" Type="http://schemas.openxmlformats.org/officeDocument/2006/relationships/image" Target="../media/image-7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6.xml"/><Relationship Id="rId1" Type="http://schemas.openxmlformats.org/officeDocument/2006/relationships/image" Target="../media/image-8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-1828800"/>
            <a:ext cx="5486400" cy="5486400"/>
          </a:xfrm>
          <a:prstGeom prst="ellipse">
            <a:avLst/>
          </a:prstGeom>
          <a:solidFill>
            <a:srgbClr val="27317A"/>
          </a:solidFill>
          <a:ln/>
        </p:spPr>
      </p:sp>
      <p:sp>
        <p:nvSpPr>
          <p:cNvPr id="3" name="Shape 1"/>
          <p:cNvSpPr/>
          <p:nvPr/>
        </p:nvSpPr>
        <p:spPr>
          <a:xfrm>
            <a:off x="11430000" y="3200400"/>
            <a:ext cx="3200400" cy="3200400"/>
          </a:xfrm>
          <a:prstGeom prst="ellipse">
            <a:avLst/>
          </a:prstGeom>
          <a:solidFill>
            <a:srgbClr val="27317A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9202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PERFORMANCE ANALYSIS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233172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Data to Decisions: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297180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Growth, Profitability &amp; a Validated Marketing Win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40080" y="42062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C9B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Two-Year Sales Review  |  2024 - 2025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Executive Summary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story in four numbers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2651760" cy="2834640"/>
          </a:xfrm>
          <a:prstGeom prst="roundRect">
            <a:avLst>
              <a:gd name="adj" fmla="val 2759"/>
            </a:avLst>
          </a:prstGeom>
          <a:solidFill>
            <a:srgbClr val="F7F8FC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73736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7882" y="1848002"/>
            <a:ext cx="281635" cy="28163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242316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$2.77M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731520" y="306324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Sales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31520" y="356616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3,994 clean orders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429000" y="1463040"/>
            <a:ext cx="2651760" cy="2834640"/>
          </a:xfrm>
          <a:prstGeom prst="roundRect">
            <a:avLst>
              <a:gd name="adj" fmla="val 2759"/>
            </a:avLst>
          </a:prstGeom>
          <a:solidFill>
            <a:srgbClr val="F7F8FC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57600" y="1737360"/>
            <a:ext cx="502920" cy="502920"/>
          </a:xfrm>
          <a:prstGeom prst="ellipse">
            <a:avLst/>
          </a:prstGeom>
          <a:solidFill>
            <a:srgbClr val="C0392B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8242" y="1848002"/>
            <a:ext cx="281635" cy="281635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11880" y="242316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-52%</a:t>
            </a:r>
            <a:endParaRPr lang="en-US" sz="3000" dirty="0"/>
          </a:p>
        </p:txBody>
      </p:sp>
      <p:sp>
        <p:nvSpPr>
          <p:cNvPr id="14" name="Text 10"/>
          <p:cNvSpPr/>
          <p:nvPr/>
        </p:nvSpPr>
        <p:spPr>
          <a:xfrm>
            <a:off x="3611880" y="306324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 ↔ Profit Correlation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3611880" y="356616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30% discount, orders lose money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6309360" y="1463040"/>
            <a:ext cx="2651760" cy="2834640"/>
          </a:xfrm>
          <a:prstGeom prst="roundRect">
            <a:avLst>
              <a:gd name="adj" fmla="val 2759"/>
            </a:avLst>
          </a:prstGeom>
          <a:solidFill>
            <a:srgbClr val="F7F8FC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537960" y="1737360"/>
            <a:ext cx="502920" cy="502920"/>
          </a:xfrm>
          <a:prstGeom prst="ellipse">
            <a:avLst/>
          </a:prstGeom>
          <a:solidFill>
            <a:srgbClr val="2E9E5B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8602" y="1848002"/>
            <a:ext cx="281635" cy="281635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492240" y="242316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E9E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94.9%</a:t>
            </a:r>
            <a:endParaRPr lang="en-US" sz="3000" dirty="0"/>
          </a:p>
        </p:txBody>
      </p:sp>
      <p:sp>
        <p:nvSpPr>
          <p:cNvPr id="20" name="Text 15"/>
          <p:cNvSpPr/>
          <p:nvPr/>
        </p:nvSpPr>
        <p:spPr>
          <a:xfrm>
            <a:off x="6492240" y="306324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Repeat Rate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6492240" y="356616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884 customers, low concentration risk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9189720" y="1463040"/>
            <a:ext cx="2651760" cy="2834640"/>
          </a:xfrm>
          <a:prstGeom prst="roundRect">
            <a:avLst>
              <a:gd name="adj" fmla="val 2759"/>
            </a:avLst>
          </a:prstGeom>
          <a:solidFill>
            <a:srgbClr val="F7F8FC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9418320" y="1737360"/>
            <a:ext cx="502920" cy="502920"/>
          </a:xfrm>
          <a:prstGeom prst="ellipse">
            <a:avLst/>
          </a:prstGeom>
          <a:solidFill>
            <a:srgbClr val="E8834A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8962" y="1848002"/>
            <a:ext cx="281635" cy="281635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9372600" y="242316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83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 = 0.0015</a:t>
            </a:r>
            <a:endParaRPr lang="en-US" sz="3000" dirty="0"/>
          </a:p>
        </p:txBody>
      </p:sp>
      <p:sp>
        <p:nvSpPr>
          <p:cNvPr id="26" name="Text 20"/>
          <p:cNvSpPr/>
          <p:nvPr/>
        </p:nvSpPr>
        <p:spPr>
          <a:xfrm>
            <a:off x="9372600" y="306324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 Lift Confirmed</a:t>
            </a:r>
            <a:endParaRPr lang="en-US" sz="1300" dirty="0"/>
          </a:p>
        </p:txBody>
      </p:sp>
      <p:sp>
        <p:nvSpPr>
          <p:cNvPr id="27" name="Text 21"/>
          <p:cNvSpPr/>
          <p:nvPr/>
        </p:nvSpPr>
        <p:spPr>
          <a:xfrm>
            <a:off x="9372600" y="356616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+4.35pp conversion, statistically significant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Methodology: From Raw to Reliable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insight in this deck is built on a validated, cleaned dataset</a:t>
            </a:r>
            <a:endParaRPr lang="en-US" sz="1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6766560" cy="2377440"/>
        </p:xfrm>
        <a:graphic>
          <a:graphicData uri="http://schemas.openxmlformats.org/drawingml/2006/table">
            <a:tbl>
              <a:tblPr/>
              <a:tblGrid>
                <a:gridCol w="4023360"/>
                <a:gridCol w="1371600"/>
                <a:gridCol w="137160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Raw Data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Cleaned Data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rows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4,040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3,994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Missing values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Duplicate / conflicting records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Invalid values (negative qty, bad %, text-as-number)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10+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635240" y="1463040"/>
            <a:ext cx="3977640" cy="3566160"/>
          </a:xfrm>
          <a:prstGeom prst="roundRect">
            <a:avLst>
              <a:gd name="adj" fmla="val 2051"/>
            </a:avLst>
          </a:prstGeom>
          <a:solidFill>
            <a:srgbClr val="F7F8FC"/>
          </a:solidFill>
          <a:ln/>
        </p:spPr>
      </p:sp>
      <p:sp>
        <p:nvSpPr>
          <p:cNvPr id="6" name="Text 3"/>
          <p:cNvSpPr/>
          <p:nvPr/>
        </p:nvSpPr>
        <p:spPr>
          <a:xfrm>
            <a:off x="7909560" y="16459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fixed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909560" y="2057400"/>
            <a:ext cx="352044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Currency &amp; percent values stored as text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 casing ("EAST" vs "east")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typos ("Furnitur")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 date formats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quantities &amp; out-of-policy discounts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the Revenue Comes From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10881360" y="384048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81944" y="484632"/>
            <a:ext cx="256032" cy="25603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105156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6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Region</a:t>
            </a:r>
            <a:endParaRPr lang="en-US" sz="14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457200" y="1371600"/>
          <a:ext cx="557784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 3"/>
          <p:cNvSpPr/>
          <p:nvPr/>
        </p:nvSpPr>
        <p:spPr>
          <a:xfrm>
            <a:off x="6309360" y="105156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6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Category</a:t>
            </a:r>
            <a:endParaRPr lang="en-US" sz="1400" dirty="0"/>
          </a:p>
        </p:txBody>
      </p:sp>
      <p:graphicFrame>
        <p:nvGraphicFramePr>
          <p:cNvPr id="8" name="Chart 1" descr=""/>
          <p:cNvGraphicFramePr/>
          <p:nvPr/>
        </p:nvGraphicFramePr>
        <p:xfrm>
          <a:off x="6217920" y="1371600"/>
          <a:ext cx="557784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Profit Leak: Discounting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order-level discount hurts margin -- and past 30%, orders lose money outright</a:t>
            </a:r>
            <a:endParaRPr lang="en-US" sz="135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371600"/>
          <a:ext cx="694944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772400" y="1371600"/>
            <a:ext cx="3840480" cy="3566160"/>
          </a:xfrm>
          <a:prstGeom prst="roundRect">
            <a:avLst>
              <a:gd name="adj" fmla="val 2051"/>
            </a:avLst>
          </a:prstGeom>
          <a:solidFill>
            <a:srgbClr val="27317A"/>
          </a:solidFill>
          <a:ln/>
        </p:spPr>
      </p:sp>
      <p:sp>
        <p:nvSpPr>
          <p:cNvPr id="6" name="Text 3"/>
          <p:cNvSpPr/>
          <p:nvPr/>
        </p:nvSpPr>
        <p:spPr>
          <a:xfrm>
            <a:off x="8046720" y="160020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883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-0.52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8046720" y="233172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between Discount and Profit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046720" y="306324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Regression: Profit ≈ -$679 x Discount + $233 per order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8046720" y="3794760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Recommendation: cap discretionary discounts at 30% -- the point where average margin turns negative.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Who's Buying: Segment &amp; Customer Base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10881360" y="384048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81944" y="484632"/>
            <a:ext cx="256032" cy="256032"/>
          </a:xfrm>
          <a:prstGeom prst="rect">
            <a:avLst/>
          </a:prstGeom>
        </p:spPr>
      </p:pic>
      <p:graphicFrame>
        <p:nvGraphicFramePr>
          <p:cNvPr id="5" name="Chart 0" descr=""/>
          <p:cNvGraphicFramePr/>
          <p:nvPr/>
        </p:nvGraphicFramePr>
        <p:xfrm>
          <a:off x="457200" y="1280160"/>
          <a:ext cx="576072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 2"/>
          <p:cNvSpPr/>
          <p:nvPr/>
        </p:nvSpPr>
        <p:spPr>
          <a:xfrm>
            <a:off x="6492240" y="1371600"/>
            <a:ext cx="1554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E883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884</a:t>
            </a:r>
            <a:endParaRPr lang="en-US" sz="2600" dirty="0"/>
          </a:p>
        </p:txBody>
      </p:sp>
      <p:sp>
        <p:nvSpPr>
          <p:cNvPr id="7" name="Text 3"/>
          <p:cNvSpPr/>
          <p:nvPr/>
        </p:nvSpPr>
        <p:spPr>
          <a:xfrm>
            <a:off x="8183880" y="1371600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customers</a:t>
            </a:r>
            <a:endParaRPr lang="en-US" sz="1250" dirty="0"/>
          </a:p>
        </p:txBody>
      </p:sp>
      <p:sp>
        <p:nvSpPr>
          <p:cNvPr id="8" name="Text 4"/>
          <p:cNvSpPr/>
          <p:nvPr/>
        </p:nvSpPr>
        <p:spPr>
          <a:xfrm>
            <a:off x="6492240" y="2286000"/>
            <a:ext cx="1554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E883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3.5%</a:t>
            </a:r>
            <a:endParaRPr lang="en-US" sz="2600" dirty="0"/>
          </a:p>
        </p:txBody>
      </p:sp>
      <p:sp>
        <p:nvSpPr>
          <p:cNvPr id="9" name="Text 5"/>
          <p:cNvSpPr/>
          <p:nvPr/>
        </p:nvSpPr>
        <p:spPr>
          <a:xfrm>
            <a:off x="8183880" y="2286000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sales from top 10 customers -- low concentration risk</a:t>
            </a:r>
            <a:endParaRPr lang="en-US" sz="1250" dirty="0"/>
          </a:p>
        </p:txBody>
      </p:sp>
      <p:sp>
        <p:nvSpPr>
          <p:cNvPr id="10" name="Text 6"/>
          <p:cNvSpPr/>
          <p:nvPr/>
        </p:nvSpPr>
        <p:spPr>
          <a:xfrm>
            <a:off x="6492240" y="3200400"/>
            <a:ext cx="1554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E883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94.9%</a:t>
            </a:r>
            <a:endParaRPr lang="en-US" sz="2600" dirty="0"/>
          </a:p>
        </p:txBody>
      </p:sp>
      <p:sp>
        <p:nvSpPr>
          <p:cNvPr id="11" name="Text 7"/>
          <p:cNvSpPr/>
          <p:nvPr/>
        </p:nvSpPr>
        <p:spPr>
          <a:xfrm>
            <a:off x="8183880" y="3200400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customers placed more than one order</a:t>
            </a:r>
            <a:endParaRPr lang="en-US" sz="1250" dirty="0"/>
          </a:p>
        </p:txBody>
      </p:sp>
      <p:sp>
        <p:nvSpPr>
          <p:cNvPr id="12" name="Text 8"/>
          <p:cNvSpPr/>
          <p:nvPr/>
        </p:nvSpPr>
        <p:spPr>
          <a:xfrm>
            <a:off x="6492240" y="4114800"/>
            <a:ext cx="1554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E883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~$690</a:t>
            </a:r>
            <a:endParaRPr lang="en-US" sz="2600" dirty="0"/>
          </a:p>
        </p:txBody>
      </p:sp>
      <p:sp>
        <p:nvSpPr>
          <p:cNvPr id="13" name="Text 9"/>
          <p:cNvSpPr/>
          <p:nvPr/>
        </p:nvSpPr>
        <p:spPr>
          <a:xfrm>
            <a:off x="8183880" y="4114800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order value -- consistent across all segments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Revenue Trend: Stable &amp; Resilient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10881360" y="384048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81944" y="484632"/>
            <a:ext cx="256032" cy="25603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8686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sales, Jan 2024 - Dec 2025</a:t>
            </a:r>
            <a:endParaRPr lang="en-US" sz="14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457200" y="1371600"/>
          <a:ext cx="1124712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Hypothesis Test: Did the New Campaign Work?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10972800" y="36576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83442" y="476402"/>
            <a:ext cx="281635" cy="28163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051560"/>
            <a:ext cx="10972800" cy="594360"/>
          </a:xfrm>
          <a:prstGeom prst="roundRect">
            <a:avLst/>
          </a:prstGeom>
          <a:solidFill>
            <a:srgbClr val="F7F8FC"/>
          </a:solidFill>
          <a:ln/>
        </p:spPr>
      </p:sp>
      <p:sp>
        <p:nvSpPr>
          <p:cNvPr id="6" name="Text 3"/>
          <p:cNvSpPr/>
          <p:nvPr/>
        </p:nvSpPr>
        <p:spPr>
          <a:xfrm>
            <a:off x="777240" y="105156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H₀: </a:t>
            </a:r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campaign has no effect on conversion.   </a:t>
            </a:r>
            <a:pPr indent="0" marL="0">
              <a:buNone/>
            </a:pPr>
            <a:r>
              <a:rPr lang="en-US" sz="1400" b="1" dirty="0">
                <a:solidFill>
                  <a:srgbClr val="E88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H₁: </a:t>
            </a:r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campaign increases conversion rate.</a:t>
            </a:r>
            <a:endParaRPr lang="en-US" sz="14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548640" y="1874520"/>
          <a:ext cx="493776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760720" y="1874520"/>
          <a:ext cx="5760720" cy="3017520"/>
        </p:xfrm>
        <a:graphic>
          <a:graphicData uri="http://schemas.openxmlformats.org/drawingml/2006/table">
            <a:tbl>
              <a:tblPr/>
              <a:tblGrid>
                <a:gridCol w="3474720"/>
                <a:gridCol w="228600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Chi² statistic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10.13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P-value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0.00146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95% CI on lift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[1.70%, 6.99%]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 (α = 0.05)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Reject H₀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 value difference (t-test)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 = 0.178 (not significant)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should do next, based on the evidence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2651760" cy="3291840"/>
          </a:xfrm>
          <a:prstGeom prst="roundRect">
            <a:avLst>
              <a:gd name="adj" fmla="val 2759"/>
            </a:avLst>
          </a:prstGeom>
          <a:solidFill>
            <a:srgbClr val="27317A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783080"/>
            <a:ext cx="502920" cy="502920"/>
          </a:xfrm>
          <a:prstGeom prst="ellipse">
            <a:avLst/>
          </a:prstGeom>
          <a:solidFill>
            <a:srgbClr val="E8834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7882" y="1893722"/>
            <a:ext cx="281635" cy="28163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246888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 discretionary discounts at 30%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731520" y="3383280"/>
            <a:ext cx="2286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 turns negative beyond this point -- protect ~$680 of profit per discounted order.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429000" y="1508760"/>
            <a:ext cx="2651760" cy="3291840"/>
          </a:xfrm>
          <a:prstGeom prst="roundRect">
            <a:avLst>
              <a:gd name="adj" fmla="val 2759"/>
            </a:avLst>
          </a:prstGeom>
          <a:solidFill>
            <a:srgbClr val="27317A"/>
          </a:solidFill>
          <a:ln/>
        </p:spPr>
      </p:sp>
      <p:sp>
        <p:nvSpPr>
          <p:cNvPr id="10" name="Shape 7"/>
          <p:cNvSpPr/>
          <p:nvPr/>
        </p:nvSpPr>
        <p:spPr>
          <a:xfrm>
            <a:off x="3657600" y="1783080"/>
            <a:ext cx="502920" cy="502920"/>
          </a:xfrm>
          <a:prstGeom prst="ellipse">
            <a:avLst/>
          </a:prstGeom>
          <a:solidFill>
            <a:srgbClr val="E8834A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8242" y="1893722"/>
            <a:ext cx="281635" cy="28163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611880" y="246888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Roll out the new campaign to all customers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3611880" y="3383280"/>
            <a:ext cx="2286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Statistically validated +4.35pp conversion lift (p = 0.0015).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309360" y="1508760"/>
            <a:ext cx="2651760" cy="3291840"/>
          </a:xfrm>
          <a:prstGeom prst="roundRect">
            <a:avLst>
              <a:gd name="adj" fmla="val 2759"/>
            </a:avLst>
          </a:prstGeom>
          <a:solidFill>
            <a:srgbClr val="27317A"/>
          </a:solidFill>
          <a:ln/>
        </p:spPr>
      </p:sp>
      <p:sp>
        <p:nvSpPr>
          <p:cNvPr id="15" name="Shape 11"/>
          <p:cNvSpPr/>
          <p:nvPr/>
        </p:nvSpPr>
        <p:spPr>
          <a:xfrm>
            <a:off x="6537960" y="1783080"/>
            <a:ext cx="502920" cy="502920"/>
          </a:xfrm>
          <a:prstGeom prst="ellipse">
            <a:avLst/>
          </a:prstGeom>
          <a:solidFill>
            <a:srgbClr val="E8834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8602" y="1893722"/>
            <a:ext cx="281635" cy="28163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492240" y="246888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Invest in South &amp; North region growth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6492240" y="3383280"/>
            <a:ext cx="2286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20-30% behind East/West with no profitability barrier -- pure upside.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9189720" y="1508760"/>
            <a:ext cx="2651760" cy="3291840"/>
          </a:xfrm>
          <a:prstGeom prst="roundRect">
            <a:avLst>
              <a:gd name="adj" fmla="val 2759"/>
            </a:avLst>
          </a:prstGeom>
          <a:solidFill>
            <a:srgbClr val="27317A"/>
          </a:solidFill>
          <a:ln/>
        </p:spPr>
      </p:sp>
      <p:sp>
        <p:nvSpPr>
          <p:cNvPr id="20" name="Shape 15"/>
          <p:cNvSpPr/>
          <p:nvPr/>
        </p:nvSpPr>
        <p:spPr>
          <a:xfrm>
            <a:off x="9418320" y="1783080"/>
            <a:ext cx="502920" cy="502920"/>
          </a:xfrm>
          <a:prstGeom prst="ellipse">
            <a:avLst/>
          </a:prstGeom>
          <a:solidFill>
            <a:srgbClr val="E8834A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8962" y="1893722"/>
            <a:ext cx="281635" cy="281635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372600" y="246888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a Corporate/Home Office acquisition push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9372600" y="3383280"/>
            <a:ext cx="2286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value already matches Consumer -- the gap is customer count, not deal size.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200400"/>
            <a:ext cx="5486400" cy="5486400"/>
          </a:xfrm>
          <a:prstGeom prst="ellipse">
            <a:avLst/>
          </a:prstGeom>
          <a:solidFill>
            <a:srgbClr val="F7F8FC"/>
          </a:solidFill>
          <a:ln/>
        </p:spPr>
      </p:sp>
      <p:sp>
        <p:nvSpPr>
          <p:cNvPr id="3" name="Shape 1"/>
          <p:cNvSpPr/>
          <p:nvPr/>
        </p:nvSpPr>
        <p:spPr>
          <a:xfrm>
            <a:off x="5394960" y="1554480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6011" y="1735531"/>
            <a:ext cx="460858" cy="46085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265176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3800" dirty="0"/>
          </a:p>
        </p:txBody>
      </p:sp>
      <p:sp>
        <p:nvSpPr>
          <p:cNvPr id="6" name="Text 3"/>
          <p:cNvSpPr/>
          <p:nvPr/>
        </p:nvSpPr>
        <p:spPr>
          <a:xfrm>
            <a:off x="548640" y="33375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5B6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Sales &amp; Marketing Performance Analysis</dc:title>
  <dc:subject>PptxGenJS Presentation</dc:subject>
  <dc:creator>Sales Analytics</dc:creator>
  <cp:lastModifiedBy>Sales Analytics</cp:lastModifiedBy>
  <cp:revision>1</cp:revision>
  <dcterms:created xsi:type="dcterms:W3CDTF">2026-07-02T05:30:09Z</dcterms:created>
  <dcterms:modified xsi:type="dcterms:W3CDTF">2026-07-02T05:30:09Z</dcterms:modified>
</cp:coreProperties>
</file>